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3" r:id="rId6"/>
    <p:sldId id="261" r:id="rId7"/>
    <p:sldId id="262" r:id="rId8"/>
    <p:sldId id="264" r:id="rId9"/>
    <p:sldId id="266" r:id="rId10"/>
    <p:sldId id="265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Bungee Shade" pitchFamily="2" charset="0"/>
      <p:regular r:id="rId21"/>
    </p:embeddedFont>
    <p:embeddedFont>
      <p:font typeface="Consolas" panose="020B0609020204030204" pitchFamily="49" charset="0"/>
      <p:regular r:id="rId22"/>
      <p:bold r:id="rId23"/>
      <p:italic r:id="rId24"/>
      <p:boldItalic r:id="rId25"/>
    </p:embeddedFont>
    <p:embeddedFont>
      <p:font typeface="Croissant One" panose="02000503080000020004" pitchFamily="2" charset="0"/>
      <p:regular r:id="rId26"/>
    </p:embeddedFont>
    <p:embeddedFont>
      <p:font typeface="Wingdings 2" panose="05020102010507070707" pitchFamily="18" charset="2"/>
      <p:regular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DB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Bookman Old Style" panose="02050604050505020204" pitchFamily="18" charset="0"/>
              </a:defRPr>
            </a:lvl1pPr>
          </a:lstStyle>
          <a:p>
            <a:fld id="{B61BEF0D-F0BB-DE4B-95CE-6DB70DBA9567}" type="datetimeFigureOut">
              <a:rPr lang="en-US" smtClean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  <a:latin typeface="Bookman Old Style" panose="0205060405050502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Bookman Old Style" panose="02050604050505020204" pitchFamily="18" charset="0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Bookman Old Style" panose="02050604050505020204" pitchFamily="18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Bookman Old Style" panose="02050604050505020204" pitchFamily="18" charset="0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Bookman Old Style" panose="02050604050505020204" pitchFamily="18" charset="0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Bookman Old Style" panose="02050604050505020204" pitchFamily="18" charset="0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Bookman Old Style" panose="02050604050505020204" pitchFamily="18" charset="0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Bookman Old Style" panose="02050604050505020204" pitchFamily="18" charset="0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B57649-6B74-9B36-286E-8EBE6F499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3840662"/>
            <a:ext cx="11029615" cy="1239140"/>
          </a:xfrm>
          <a:effectLst>
            <a:outerShdw blurRad="50800" dist="50800" dir="5400000" algn="ctr" rotWithShape="0">
              <a:schemeClr val="accent2">
                <a:lumMod val="60000"/>
                <a:lumOff val="40000"/>
              </a:schemeClr>
            </a:outerShdw>
          </a:effectLst>
        </p:spPr>
        <p:txBody>
          <a:bodyPr>
            <a:noAutofit/>
          </a:bodyPr>
          <a:lstStyle/>
          <a:p>
            <a:pPr algn="r"/>
            <a:r>
              <a:rPr lang="en-IN" sz="44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oissant One" panose="02000503080000020004" pitchFamily="2" charset="0"/>
              </a:rPr>
              <a:t>Spotify Analytics Dashboard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D59855-CFD3-A439-998C-B71D07143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3" y="5153114"/>
            <a:ext cx="11029615" cy="1239140"/>
          </a:xfrm>
        </p:spPr>
        <p:txBody>
          <a:bodyPr>
            <a:normAutofit/>
          </a:bodyPr>
          <a:lstStyle/>
          <a:p>
            <a:pPr marL="285750" indent="-285750" algn="r">
              <a:buClr>
                <a:srgbClr val="76DBFA"/>
              </a:buCl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76DB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POWER BI DASHBOARD ANALYSIS</a:t>
            </a:r>
          </a:p>
          <a:p>
            <a:pPr marL="285750" indent="-285750" algn="r">
              <a:buClr>
                <a:srgbClr val="76DBFA"/>
              </a:buCl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76DB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NAME – AAKASH MITRA</a:t>
            </a:r>
          </a:p>
          <a:p>
            <a:pPr marL="285750" indent="-285750" algn="r">
              <a:buClr>
                <a:srgbClr val="76DBFA"/>
              </a:buCl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76DB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STUDENT CODE – AF05030049</a:t>
            </a:r>
          </a:p>
        </p:txBody>
      </p:sp>
    </p:spTree>
    <p:extLst>
      <p:ext uri="{BB962C8B-B14F-4D97-AF65-F5344CB8AC3E}">
        <p14:creationId xmlns:p14="http://schemas.microsoft.com/office/powerpoint/2010/main" val="2066665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B57649-6B74-9B36-286E-8EBE6F499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IN" sz="5500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oissant One" panose="02000503080000020004" pitchFamily="2" charset="0"/>
              </a:rPr>
              <a:t>AGENDA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0CD7B11-1259-7C84-FC4E-EE1FBD2380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8454" y="2417152"/>
            <a:ext cx="1113509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Business Context &amp; Objectives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Data &amp; Dashboard Overview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KPI Performance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Popularity &amp; Time-Based Trends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Artist &amp; Content-Type Analysis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Insights</a:t>
            </a:r>
            <a:endParaRPr lang="en-US" altLang="en-US" sz="2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Limitations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Recommendations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I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Conclusion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418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B57649-6B74-9B36-286E-8EBE6F499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IN" sz="4000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oissant One" panose="02000503080000020004" pitchFamily="2" charset="0"/>
              </a:rPr>
              <a:t>Business Context &amp; Objectives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F6B933C-8524-6B63-F114-749944762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2268260"/>
            <a:ext cx="5393099" cy="53600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Business Context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FD60023-2655-F02B-AD35-DF1AE1160D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372257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500" dirty="0">
                <a:latin typeface="Consolas" panose="020B0609020204030204" pitchFamily="49" charset="0"/>
              </a:rPr>
              <a:t>Digital music platforms like Spotify operate in a highly competitive, data-driven environment where user engagement, content performance, and artist visibility directly impact revenue and retention. With millions of tracks available, identifying </a:t>
            </a:r>
            <a:r>
              <a:rPr lang="en-US" sz="1500" b="1" dirty="0">
                <a:latin typeface="Consolas" panose="020B0609020204030204" pitchFamily="49" charset="0"/>
              </a:rPr>
              <a:t>what content performs well and why</a:t>
            </a:r>
            <a:r>
              <a:rPr lang="en-US" sz="1500" dirty="0">
                <a:latin typeface="Consolas" panose="020B0609020204030204" pitchFamily="49" charset="0"/>
              </a:rPr>
              <a:t> is critical for informed decision-making.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500" dirty="0">
                <a:latin typeface="Consolas" panose="020B0609020204030204" pitchFamily="49" charset="0"/>
              </a:rPr>
              <a:t>This project uses Spotify music data to understand </a:t>
            </a:r>
            <a:r>
              <a:rPr lang="en-US" sz="1500" b="1" dirty="0">
                <a:latin typeface="Consolas" panose="020B0609020204030204" pitchFamily="49" charset="0"/>
              </a:rPr>
              <a:t>listener preferences, popularity trends, and artist performance</a:t>
            </a:r>
            <a:r>
              <a:rPr lang="en-US" sz="1500" dirty="0">
                <a:latin typeface="Consolas" panose="020B0609020204030204" pitchFamily="49" charset="0"/>
              </a:rPr>
              <a:t>, enabling stakeholders to make strategic content and promotion decisions.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79EDAE1-BCC2-6D5F-9F55-7DF7B8051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7709" y="2250892"/>
            <a:ext cx="5393099" cy="553373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Business Objectives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B6CC97E-B3D5-AF2C-36AA-2753B5FA49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3722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The key objectives of this dashboard are: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500" dirty="0">
                <a:latin typeface="Consolas" panose="020B0609020204030204" pitchFamily="49" charset="0"/>
              </a:rPr>
              <a:t>To analyze </a:t>
            </a:r>
            <a:r>
              <a:rPr lang="en-US" sz="1500" b="1" dirty="0">
                <a:latin typeface="Consolas" panose="020B0609020204030204" pitchFamily="49" charset="0"/>
              </a:rPr>
              <a:t>song popularity trends</a:t>
            </a:r>
            <a:r>
              <a:rPr lang="en-US" sz="1500" dirty="0">
                <a:latin typeface="Consolas" panose="020B0609020204030204" pitchFamily="49" charset="0"/>
              </a:rPr>
              <a:t> over time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500" dirty="0">
                <a:latin typeface="Consolas" panose="020B0609020204030204" pitchFamily="49" charset="0"/>
              </a:rPr>
              <a:t>To identify </a:t>
            </a:r>
            <a:r>
              <a:rPr lang="en-US" sz="1500" b="1" dirty="0">
                <a:latin typeface="Consolas" panose="020B0609020204030204" pitchFamily="49" charset="0"/>
              </a:rPr>
              <a:t>high-performing artists and tracks</a:t>
            </a:r>
            <a:endParaRPr lang="en-US" sz="1500" dirty="0"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500" dirty="0">
                <a:latin typeface="Consolas" panose="020B0609020204030204" pitchFamily="49" charset="0"/>
              </a:rPr>
              <a:t>To evaluate the performance of </a:t>
            </a:r>
            <a:r>
              <a:rPr lang="en-US" sz="1500" b="1" dirty="0">
                <a:latin typeface="Consolas" panose="020B0609020204030204" pitchFamily="49" charset="0"/>
              </a:rPr>
              <a:t>singles versus albums</a:t>
            </a:r>
            <a:endParaRPr lang="en-US" sz="1500" dirty="0"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500" dirty="0">
                <a:latin typeface="Consolas" panose="020B0609020204030204" pitchFamily="49" charset="0"/>
              </a:rPr>
              <a:t>To support </a:t>
            </a:r>
            <a:r>
              <a:rPr lang="en-US" sz="1500" b="1" dirty="0">
                <a:latin typeface="Consolas" panose="020B0609020204030204" pitchFamily="49" charset="0"/>
              </a:rPr>
              <a:t>data-driven content and marketing strategies</a:t>
            </a:r>
            <a:endParaRPr lang="en-US" sz="1500" dirty="0"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500" dirty="0">
                <a:latin typeface="Consolas" panose="020B0609020204030204" pitchFamily="49" charset="0"/>
              </a:rPr>
              <a:t>To provide an </a:t>
            </a:r>
            <a:r>
              <a:rPr lang="en-US" sz="1500" b="1" dirty="0">
                <a:latin typeface="Consolas" panose="020B0609020204030204" pitchFamily="49" charset="0"/>
              </a:rPr>
              <a:t>interactive dashboard</a:t>
            </a:r>
            <a:r>
              <a:rPr lang="en-US" sz="1500" dirty="0">
                <a:latin typeface="Consolas" panose="020B0609020204030204" pitchFamily="49" charset="0"/>
              </a:rPr>
              <a:t> for quick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3065338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B57649-6B74-9B36-286E-8EBE6F499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IN" sz="4000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oissant One" panose="02000503080000020004" pitchFamily="2" charset="0"/>
              </a:rPr>
              <a:t>Spotify Dashboard –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E9C381-9CD5-2E5C-FD88-67760948261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945305" y="1892961"/>
            <a:ext cx="8660291" cy="48924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003837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B57649-6B74-9B36-286E-8EBE6F499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pPr algn="ctr"/>
            <a:r>
              <a:rPr lang="en-US" sz="4000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oissant One" panose="02000503080000020004" pitchFamily="2" charset="0"/>
              </a:rPr>
              <a:t>Data Model &amp; DAX Measure Architecture</a:t>
            </a:r>
            <a:endParaRPr lang="en-IN" sz="4000" spc="-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roissant One" panose="02000503080000020004" pitchFamily="2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5593208-7FDF-CEB7-AE9A-648C483AF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057" y="2112939"/>
            <a:ext cx="8093886" cy="402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918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B57649-6B74-9B36-286E-8EBE6F499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IN" sz="4400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oissant One" panose="02000503080000020004" pitchFamily="2" charset="0"/>
              </a:rPr>
              <a:t>KPI card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D629D19-A128-2A34-2738-C2C387F5C51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83365" y="2122913"/>
            <a:ext cx="3045151" cy="372074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70BA17E7-A4E0-7FD2-C510-B866FB9292E9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264351" y="2613678"/>
            <a:ext cx="7346458" cy="2739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Total Songs (788): </a:t>
            </a:r>
            <a:r>
              <a:rPr lang="en-US" sz="1400" dirty="0">
                <a:latin typeface="Consolas" panose="020B0609020204030204" pitchFamily="49" charset="0"/>
              </a:rPr>
              <a:t>Represents the overall size of the music catalog analyzed in this project, providing a strong data foundation for identifying trends, patterns and performance insights.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5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Count of Artists (342): </a:t>
            </a:r>
            <a:r>
              <a:rPr lang="en-US" sz="1400" dirty="0">
                <a:latin typeface="Consolas" panose="020B0609020204030204" pitchFamily="49" charset="0"/>
              </a:rPr>
              <a:t>Indicates a diverse range of contributing artists, enabling meaningful comparison of artist presence and understanding of content distribution across the platform.</a:t>
            </a:r>
            <a:endParaRPr lang="en-US" altLang="en-US" sz="1400" dirty="0">
              <a:latin typeface="Consolas" panose="020B0609020204030204" pitchFamily="49" charset="0"/>
            </a:endParaRPr>
          </a:p>
          <a:p>
            <a:pPr marR="0"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  <a:tabLst/>
            </a:pPr>
            <a:r>
              <a:rPr lang="en-US" altLang="en-US" sz="15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Average Duration (3.28 mins): </a:t>
            </a:r>
            <a:r>
              <a:rPr lang="en-US" sz="1400" dirty="0">
                <a:latin typeface="Consolas" panose="020B0609020204030204" pitchFamily="49" charset="0"/>
              </a:rPr>
              <a:t>Reflects the typical length of songs in the dataset, suggesting alignment with standard listener preferences and optimized consumption behavior.</a:t>
            </a:r>
            <a:endParaRPr lang="en-US" altLang="en-US" sz="1400" dirty="0">
              <a:latin typeface="Consolas" panose="020B0609020204030204" pitchFamily="49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  <a:tabLst/>
            </a:pPr>
            <a:r>
              <a:rPr lang="en-US" altLang="en-US" sz="15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Average Popularity (89.62): </a:t>
            </a:r>
            <a:r>
              <a:rPr lang="en-US" sz="1400" dirty="0">
                <a:latin typeface="Consolas" panose="020B0609020204030204" pitchFamily="49" charset="0"/>
              </a:rPr>
              <a:t>Demonstrates a high level of listener engagement across tracks, indicating that the dataset is dominated by well-performing and popular content.</a:t>
            </a:r>
            <a:endParaRPr lang="en-US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937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B57649-6B74-9B36-286E-8EBE6F499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IN" sz="4400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oissant One" panose="02000503080000020004" pitchFamily="2" charset="0"/>
              </a:rPr>
              <a:t>Average Popularity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586361-63BC-2855-70F5-88FD7565C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3" y="2068491"/>
            <a:ext cx="4839375" cy="19147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4280D29B-CBBF-1B1B-13F1-9F1E732C107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229970" y="4084164"/>
            <a:ext cx="5541820" cy="2746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Consistent High Popularity Across the Year:</a:t>
            </a:r>
            <a:r>
              <a:rPr lang="en-US" altLang="en-US" sz="105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The chart shows that average popularity remains strong throughout most months, indicating stable listener engagement rather than sharp fluctuations.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05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Peak Performance in Early and Late Months:</a:t>
            </a:r>
            <a:r>
              <a:rPr lang="en-US" alt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</a:t>
            </a:r>
            <a:r>
              <a:rPr lang="en-US" altLang="en-US" sz="1050" dirty="0">
                <a:latin typeface="Consolas" panose="020B0609020204030204" pitchFamily="49" charset="0"/>
              </a:rPr>
              <a:t>Higher popularity levels are observed in months like January, February, and December, suggesting increased listener activity during the beginning and end of the year.</a:t>
            </a:r>
          </a:p>
          <a:p>
            <a:pPr marR="0"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  <a:tabLst/>
            </a:pPr>
            <a:r>
              <a:rPr lang="en-US" altLang="en-US" sz="105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Mid-Year Stabilization:</a:t>
            </a:r>
            <a:r>
              <a:rPr lang="en-US" altLang="en-US" sz="1200" dirty="0">
                <a:solidFill>
                  <a:schemeClr val="tx1"/>
                </a:solidFill>
              </a:rPr>
              <a:t> </a:t>
            </a:r>
            <a:r>
              <a:rPr lang="en-US" altLang="en-US" sz="1050" dirty="0">
                <a:latin typeface="Consolas" panose="020B0609020204030204" pitchFamily="49" charset="0"/>
              </a:rPr>
              <a:t>Popularity dips slightly around March to June, but remains within a narrow range, indicating controlled variation rather than performance decline.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05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Notable Drop in October: </a:t>
            </a:r>
            <a:r>
              <a:rPr lang="en-US" altLang="en-US" sz="1050" dirty="0">
                <a:latin typeface="Consolas" panose="020B0609020204030204" pitchFamily="49" charset="0"/>
              </a:rPr>
              <a:t>October shows the lowest average popularity, highlighting a potential seasonal or release-cycle impact that may require deeper analysis.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  <a:tabLst/>
            </a:pPr>
            <a:r>
              <a:rPr lang="en-US" altLang="en-US" sz="105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Strong Recovery Towards Year-End: </a:t>
            </a:r>
            <a:r>
              <a:rPr lang="en-US" altLang="en-US" sz="1050" dirty="0">
                <a:latin typeface="Consolas" panose="020B0609020204030204" pitchFamily="49" charset="0"/>
              </a:rPr>
              <a:t>The upward trend from November to December reflects renewed engagement, possibly driven by major releases, promotions, or holiday listening behavior.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6B525D8-F480-4C83-F41E-B36A7D7AC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537" y="2068490"/>
            <a:ext cx="4801270" cy="188621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16" name="Rectangle 5">
            <a:extLst>
              <a:ext uri="{FF2B5EF4-FFF2-40B4-BE49-F238E27FC236}">
                <a16:creationId xmlns:a16="http://schemas.microsoft.com/office/drawing/2014/main" id="{E37F8033-14DD-5072-C190-B11DD3DEE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0212" y="4199580"/>
            <a:ext cx="5541818" cy="2516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-1714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82000"/>
              <a:buFont typeface="Wingdings" panose="05000000000000000000" pitchFamily="2" charset="2"/>
              <a:buChar char="q"/>
            </a:pPr>
            <a:r>
              <a:rPr lang="en-US" alt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Strong Performance in Q1: </a:t>
            </a:r>
            <a:r>
              <a:rPr lang="en-US" altLang="en-US" sz="1050" dirty="0">
                <a:solidFill>
                  <a:schemeClr val="tx2"/>
                </a:solidFill>
                <a:latin typeface="Consolas" panose="020B0609020204030204" pitchFamily="49" charset="0"/>
              </a:rPr>
              <a:t>Q1 records the highest average popularity, indicating strong listener engagement at the beginning of the year, possibly driven by new releases and fresh content cycles.</a:t>
            </a:r>
          </a:p>
          <a:p>
            <a:pPr indent="-1714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82000"/>
              <a:buFont typeface="Wingdings" panose="05000000000000000000" pitchFamily="2" charset="2"/>
              <a:buChar char="q"/>
            </a:pPr>
            <a:r>
              <a:rPr lang="en-US" alt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Gradual Decline Across Quarters: </a:t>
            </a:r>
            <a:r>
              <a:rPr lang="en-US" altLang="en-US" sz="1050" dirty="0">
                <a:solidFill>
                  <a:schemeClr val="tx2"/>
                </a:solidFill>
                <a:latin typeface="Consolas" panose="020B0609020204030204" pitchFamily="49" charset="0"/>
              </a:rPr>
              <a:t>The chart shows a steady decrease in popularity from Q1 to Q4, suggesting a gradual shift in listener engagement rather than sudden drops.</a:t>
            </a:r>
          </a:p>
          <a:p>
            <a:pPr indent="-1714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82000"/>
              <a:buFont typeface="Wingdings" panose="05000000000000000000" pitchFamily="2" charset="2"/>
              <a:buChar char="q"/>
            </a:pPr>
            <a:r>
              <a:rPr lang="en-US" alt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Stable Mid-Year Engagement: </a:t>
            </a:r>
            <a:r>
              <a:rPr lang="en-US" altLang="en-US" sz="1050" dirty="0">
                <a:solidFill>
                  <a:schemeClr val="tx2"/>
                </a:solidFill>
                <a:latin typeface="Consolas" panose="020B0609020204030204" pitchFamily="49" charset="0"/>
              </a:rPr>
              <a:t>Q2 and Q3 maintain relatively close popularity values, reflecting consistent performance during the mid-year period.</a:t>
            </a:r>
          </a:p>
          <a:p>
            <a:pPr indent="-1714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82000"/>
              <a:buFont typeface="Wingdings" panose="05000000000000000000" pitchFamily="2" charset="2"/>
              <a:buChar char="q"/>
            </a:pPr>
            <a:r>
              <a:rPr lang="en-US" alt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Lowest Popularity in Q4: </a:t>
            </a:r>
            <a:r>
              <a:rPr lang="en-US" altLang="en-US" sz="1050" dirty="0">
                <a:solidFill>
                  <a:schemeClr val="tx2"/>
                </a:solidFill>
                <a:latin typeface="Consolas" panose="020B0609020204030204" pitchFamily="49" charset="0"/>
              </a:rPr>
              <a:t>Q4 shows the lowest average popularity, highlighting potential seasonality effects or reduced release momentum during this period.</a:t>
            </a:r>
          </a:p>
          <a:p>
            <a:pPr marL="171450" indent="-1714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82000"/>
              <a:buFont typeface="Wingdings" panose="05000000000000000000" pitchFamily="2" charset="2"/>
              <a:buChar char="q"/>
            </a:pPr>
            <a:r>
              <a:rPr lang="en-US" alt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Strategic Planning Insight: </a:t>
            </a:r>
            <a:r>
              <a:rPr lang="en-US" altLang="en-US" sz="1050" dirty="0">
                <a:solidFill>
                  <a:schemeClr val="tx2"/>
                </a:solidFill>
                <a:latin typeface="Consolas" panose="020B0609020204030204" pitchFamily="49" charset="0"/>
              </a:rPr>
              <a:t>Quarterly trends indicate that releasing high-impact content earlier in the year may maximize engagement and popularity outcomes.</a:t>
            </a:r>
          </a:p>
        </p:txBody>
      </p:sp>
    </p:spTree>
    <p:extLst>
      <p:ext uri="{BB962C8B-B14F-4D97-AF65-F5344CB8AC3E}">
        <p14:creationId xmlns:p14="http://schemas.microsoft.com/office/powerpoint/2010/main" val="929831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B57649-6B74-9B36-286E-8EBE6F499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IN" sz="4400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oissant One" panose="02000503080000020004" pitchFamily="2" charset="0"/>
              </a:rPr>
              <a:t>Fast viral songs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8ADB6A-974F-811F-25A8-4BB6FF275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3" y="2144062"/>
            <a:ext cx="4858428" cy="188621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D02B06-C525-7225-6A55-CC702C3DD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379" y="2144062"/>
            <a:ext cx="4858428" cy="187668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14" name="Rectangle 1">
            <a:extLst>
              <a:ext uri="{FF2B5EF4-FFF2-40B4-BE49-F238E27FC236}">
                <a16:creationId xmlns:a16="http://schemas.microsoft.com/office/drawing/2014/main" id="{24A95C55-829B-CBDB-9E0E-51A43628CAB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294792" y="4195442"/>
            <a:ext cx="5801208" cy="2616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Seasonal Spikes in Viral Content: </a:t>
            </a:r>
            <a:r>
              <a:rPr lang="en-US" altLang="en-US" sz="1050" dirty="0">
                <a:latin typeface="Consolas" panose="020B0609020204030204" pitchFamily="49" charset="0"/>
                <a:cs typeface="Arial" panose="020B0604020202020204" pitchFamily="34" charset="0"/>
              </a:rPr>
              <a:t>The number of fast-viral songs shows clear seasonal variation, with significant spikes in July and October, indicating periods of rapid listener adoption.</a:t>
            </a:r>
          </a:p>
          <a:p>
            <a:pPr marR="0"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  <a:tabLst/>
            </a:pPr>
            <a:r>
              <a:rPr lang="en-US" altLang="en-US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October as the Peak Viral Month:</a:t>
            </a:r>
            <a:r>
              <a:rPr lang="en-US" altLang="en-US" sz="115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 </a:t>
            </a:r>
            <a:r>
              <a:rPr lang="en-US" altLang="en-US" sz="1050" dirty="0">
                <a:latin typeface="Consolas" panose="020B0609020204030204" pitchFamily="49" charset="0"/>
                <a:cs typeface="Arial" panose="020B0604020202020204" pitchFamily="34" charset="0"/>
              </a:rPr>
              <a:t>October records the highest count of fast-viral songs, suggesting strong release momentum, promotional activity, or heightened audience engagement during this period.</a:t>
            </a:r>
          </a:p>
          <a:p>
            <a:pPr marR="0"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  <a:tabLst/>
            </a:pPr>
            <a:r>
              <a:rPr lang="en-US" altLang="en-US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Moderate Viral Activity During Mid-Year:</a:t>
            </a:r>
            <a:r>
              <a:rPr lang="en-US" altLang="en-US" sz="115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 </a:t>
            </a:r>
            <a:r>
              <a:rPr lang="en-US" altLang="en-US" sz="1050" dirty="0">
                <a:latin typeface="Consolas" panose="020B0609020204030204" pitchFamily="49" charset="0"/>
                <a:cs typeface="Arial" panose="020B0604020202020204" pitchFamily="34" charset="0"/>
              </a:rPr>
              <a:t>Months like March, April, and August show steady viral counts, reflecting consistent but controlled content traction.</a:t>
            </a:r>
          </a:p>
          <a:p>
            <a:pPr marR="0"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  <a:tabLst/>
            </a:pPr>
            <a:r>
              <a:rPr lang="en-US" altLang="en-US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Lower Viral Activity at Year Boundaries: </a:t>
            </a:r>
            <a:r>
              <a:rPr lang="en-US" altLang="en-US" sz="1050" dirty="0">
                <a:latin typeface="Consolas" panose="020B0609020204030204" pitchFamily="49" charset="0"/>
                <a:cs typeface="Arial" panose="020B0604020202020204" pitchFamily="34" charset="0"/>
              </a:rPr>
              <a:t>January and December exhibit fewer fast-viral songs, possibly due to reduced release frequency or shifting listener behavior during holiday periods.</a:t>
            </a:r>
          </a:p>
          <a:p>
            <a:pPr marR="0"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  <a:tabLst/>
            </a:pPr>
            <a:r>
              <a:rPr lang="en-US" altLang="en-US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Actionable Content Strategy Insight: </a:t>
            </a:r>
            <a:r>
              <a:rPr lang="en-US" altLang="en-US" sz="1050" dirty="0">
                <a:latin typeface="Consolas" panose="020B0609020204030204" pitchFamily="49" charset="0"/>
                <a:cs typeface="Arial" panose="020B0604020202020204" pitchFamily="34" charset="0"/>
              </a:rPr>
              <a:t>Identifying months with higher viral potential enables strategic planning of releases to maximize early traction and visibility.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0DACBB2C-8895-674B-2105-F337D0A4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4448" y="4199290"/>
            <a:ext cx="5434289" cy="2608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06000" marR="0" lvl="0" indent="-3060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92000"/>
              <a:buFont typeface="Wingdings" panose="05000000000000000000" pitchFamily="2" charset="2"/>
              <a:buChar char="q"/>
              <a:tabLst/>
            </a:pPr>
            <a:r>
              <a:rPr lang="en-US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Q3 Leads in Rapid Virality: </a:t>
            </a:r>
            <a:r>
              <a:rPr lang="en-US" altLang="en-US" sz="1050" dirty="0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Q3 records the highest number of fast-viral songs, indicating stronger audience responsiveness and higher chances of songs gaining quick traction during this quarter.</a:t>
            </a:r>
          </a:p>
          <a:p>
            <a:pPr marL="306000" marR="0" lvl="0" indent="-3060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92000"/>
              <a:buFont typeface="Wingdings" panose="05000000000000000000" pitchFamily="2" charset="2"/>
              <a:buChar char="q"/>
              <a:tabLst/>
            </a:pPr>
            <a:r>
              <a:rPr lang="en-US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Strong Viral Momentum in Q4: </a:t>
            </a:r>
            <a:r>
              <a:rPr lang="en-US" altLang="en-US" sz="1050" dirty="0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Q4 follows closely behind Q3, suggesting that late-year periods are favorable for rapid content discovery and sharing.</a:t>
            </a:r>
          </a:p>
          <a:p>
            <a:pPr marL="306000" marR="0" lvl="0" indent="-3060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92000"/>
              <a:buFont typeface="Wingdings" panose="05000000000000000000" pitchFamily="2" charset="2"/>
              <a:buChar char="q"/>
              <a:tabLst/>
            </a:pPr>
            <a:r>
              <a:rPr lang="en-US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Moderate Viral Performance in Q2: </a:t>
            </a:r>
            <a:r>
              <a:rPr lang="en-US" altLang="en-US" sz="1050" dirty="0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Q2 shows a balanced level of fast-viral songs, reflecting steady engagement without extreme peaks.</a:t>
            </a:r>
          </a:p>
          <a:p>
            <a:pPr marL="306000" marR="0" lvl="0" indent="-3060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92000"/>
              <a:buFont typeface="Wingdings" panose="05000000000000000000" pitchFamily="2" charset="2"/>
              <a:buChar char="q"/>
              <a:tabLst/>
            </a:pPr>
            <a:r>
              <a:rPr lang="en-US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Lowest Viral Activity in Q1: </a:t>
            </a:r>
            <a:r>
              <a:rPr lang="en-US" altLang="en-US" sz="1050" dirty="0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Q1 has the fewest fast-viral tracks, highlighting comparatively slower early-year adoption of new releases.</a:t>
            </a:r>
          </a:p>
          <a:p>
            <a:pPr marL="306000" marR="0" lvl="0" indent="-3060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92000"/>
              <a:buFont typeface="Wingdings" panose="05000000000000000000" pitchFamily="2" charset="2"/>
              <a:buChar char="q"/>
              <a:tabLst/>
            </a:pPr>
            <a:r>
              <a:rPr lang="en-US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cs typeface="Arial" panose="020B0604020202020204" pitchFamily="34" charset="0"/>
              </a:rPr>
              <a:t>Strategic Release Timing Insight: </a:t>
            </a:r>
            <a:r>
              <a:rPr lang="en-US" altLang="en-US" sz="1050" dirty="0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The quarterly trend suggests that launching high-potential songs in Q3 or Q4 can significantly increase the probability of rapid viral success.</a:t>
            </a:r>
          </a:p>
        </p:txBody>
      </p:sp>
    </p:spTree>
    <p:extLst>
      <p:ext uri="{BB962C8B-B14F-4D97-AF65-F5344CB8AC3E}">
        <p14:creationId xmlns:p14="http://schemas.microsoft.com/office/powerpoint/2010/main" val="2172531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B57649-6B74-9B36-286E-8EBE6F499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pPr algn="ctr"/>
            <a:r>
              <a:rPr lang="en-IN" sz="4400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oissant One" panose="02000503080000020004" pitchFamily="2" charset="0"/>
              </a:rPr>
              <a:t>Top Artists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C29E12-26F8-3276-FE6C-A6057F693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4775" y="1958647"/>
            <a:ext cx="5759403" cy="2054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82000"/>
            </a:pPr>
            <a:r>
              <a:rPr lang="en-US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Top </a:t>
            </a:r>
            <a:r>
              <a:rPr lang="en-IN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Artists by Song Count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171450" indent="-1714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82000"/>
              <a:buFont typeface="Wingdings" panose="05000000000000000000" pitchFamily="2" charset="2"/>
              <a:buChar char="q"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Clear Artist Dominance:</a:t>
            </a:r>
            <a:r>
              <a:rPr lang="en-US" alt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</a:t>
            </a:r>
            <a:r>
              <a:rPr lang="en-US" altLang="en-US" sz="1050" dirty="0">
                <a:solidFill>
                  <a:schemeClr val="tx2"/>
                </a:solidFill>
                <a:latin typeface="Consolas" panose="020B0609020204030204" pitchFamily="49" charset="0"/>
              </a:rPr>
              <a:t>Taylor Swift leads by a wide margin in the number of songs, indicating a strong catalog presence and high content contribution within the dataset.</a:t>
            </a:r>
          </a:p>
          <a:p>
            <a:pPr marL="171450" marR="0" lvl="0" indent="-17145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82000"/>
              <a:buFont typeface="Wingdings" panose="05000000000000000000" pitchFamily="2" charset="2"/>
              <a:buChar char="q"/>
              <a:tabLst/>
            </a:pPr>
            <a:r>
              <a:rPr lang="en-US" alt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Concentration of Content Among Top Artists: </a:t>
            </a:r>
            <a:r>
              <a:rPr lang="en-US" altLang="en-US" sz="1050" dirty="0">
                <a:solidFill>
                  <a:schemeClr val="tx2"/>
                </a:solidFill>
                <a:latin typeface="Consolas" panose="020B0609020204030204" pitchFamily="49" charset="0"/>
              </a:rPr>
              <a:t>A small group of artists such as Travis Scott, Drake, and Bad Bunny contribute a significant share of songs, showing content concentration at the top.</a:t>
            </a:r>
          </a:p>
          <a:p>
            <a:pPr marL="171450" indent="-1714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82000"/>
              <a:buFont typeface="Wingdings" panose="05000000000000000000" pitchFamily="2" charset="2"/>
              <a:buChar char="q"/>
            </a:pPr>
            <a:r>
              <a:rPr lang="en-US" alt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Diversity Beyond the Top Tier:</a:t>
            </a:r>
            <a:r>
              <a:rPr lang="en-US" altLang="en-US" sz="1000" dirty="0">
                <a:latin typeface="Arial" panose="020B0604020202020204" pitchFamily="34" charset="0"/>
              </a:rPr>
              <a:t> </a:t>
            </a:r>
            <a:r>
              <a:rPr lang="en-US" altLang="en-US" sz="1050" dirty="0">
                <a:solidFill>
                  <a:schemeClr val="tx2"/>
                </a:solidFill>
                <a:latin typeface="Consolas" panose="020B0609020204030204" pitchFamily="49" charset="0"/>
              </a:rPr>
              <a:t>Artists like Beyoncé, Kendrick Lamar, Ariana Grande, and Eminem show balanced representation, reflecting diversity beyond the leading artist.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82000"/>
              <a:buFont typeface="Wingdings" panose="05000000000000000000" pitchFamily="2" charset="2"/>
              <a:buChar char="q"/>
              <a:tabLst/>
            </a:pPr>
            <a:r>
              <a:rPr lang="en-US" alt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Strategic Artist Insight: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Identifying high-volume artists helps platforms prioritize partnerships, promotions, and catalog curation strategies.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35B628-E35B-12B0-7779-68D2A0F95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649" y="1957182"/>
            <a:ext cx="2638793" cy="294363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2FAF09-9733-B5CE-F9BE-9FE80EAD9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8358" y="3824378"/>
            <a:ext cx="2743583" cy="28960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32290086-724E-90F9-A4DF-83AA7CEE3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4775" y="4489001"/>
            <a:ext cx="5682579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82000"/>
              <a:tabLst/>
            </a:pPr>
            <a:r>
              <a:rPr lang="en-US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Top </a:t>
            </a:r>
            <a:r>
              <a:rPr lang="en-IN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Artists by Popularity</a:t>
            </a:r>
            <a:endParaRPr lang="en-US" alt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171450" marR="0" lvl="0" indent="-17145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82000"/>
              <a:buFont typeface="Wingdings" panose="05000000000000000000" pitchFamily="2" charset="2"/>
              <a:buChar char="q"/>
              <a:tabLst/>
            </a:pPr>
            <a:r>
              <a:rPr lang="en-US" alt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Overall Popularity Leadership: </a:t>
            </a:r>
            <a:r>
              <a:rPr lang="en-US" altLang="en-US" sz="1000" dirty="0">
                <a:solidFill>
                  <a:schemeClr val="tx2"/>
                </a:solidFill>
                <a:latin typeface="Consolas" panose="020B0609020204030204" pitchFamily="49" charset="0"/>
              </a:rPr>
              <a:t>Taylor Swift ranks highest in cumulative popularity, indicating exceptional listener engagement and sustained impact across her music catalog.</a:t>
            </a:r>
          </a:p>
          <a:p>
            <a:pPr marL="171450" indent="-1714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82000"/>
              <a:buFont typeface="Wingdings" panose="05000000000000000000" pitchFamily="2" charset="2"/>
              <a:buChar char="q"/>
            </a:pPr>
            <a:r>
              <a:rPr lang="en-US" alt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Strong Tier of High-Engagement Artists: </a:t>
            </a:r>
            <a:r>
              <a:rPr lang="en-US" altLang="en-US" sz="1000" dirty="0">
                <a:solidFill>
                  <a:schemeClr val="tx2"/>
                </a:solidFill>
                <a:latin typeface="Consolas" panose="020B0609020204030204" pitchFamily="49" charset="0"/>
              </a:rPr>
              <a:t>Artists such as Billie Eilish, Sabrina Carpenter, and The Weeknd form a strong second tier, reflecting consistent popularity and broad audience appeal.</a:t>
            </a:r>
          </a:p>
          <a:p>
            <a:pPr marL="171450" indent="-1714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82000"/>
              <a:buFont typeface="Wingdings" panose="05000000000000000000" pitchFamily="2" charset="2"/>
              <a:buChar char="q"/>
            </a:pPr>
            <a:r>
              <a:rPr lang="en-US" alt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Global and Genre Diversity: </a:t>
            </a:r>
            <a:r>
              <a:rPr lang="en-US" altLang="en-US" sz="1000" dirty="0">
                <a:solidFill>
                  <a:schemeClr val="tx2"/>
                </a:solidFill>
                <a:latin typeface="Consolas" panose="020B0609020204030204" pitchFamily="49" charset="0"/>
              </a:rPr>
              <a:t>The presence of artists like KAROL G, Bad Bunny, and Arctic Monkeys reflects diverse genres and global reach contributing to high popularity scores.</a:t>
            </a:r>
          </a:p>
          <a:p>
            <a:pPr marL="171450" marR="0" lvl="0" indent="-17145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82000"/>
              <a:buFont typeface="Wingdings" panose="05000000000000000000" pitchFamily="2" charset="2"/>
              <a:buChar char="q"/>
              <a:tabLst/>
            </a:pPr>
            <a:r>
              <a:rPr lang="en-US" alt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Strategic Business Implication: </a:t>
            </a:r>
            <a:r>
              <a:rPr lang="en-US" altLang="en-US" sz="1000" dirty="0">
                <a:solidFill>
                  <a:schemeClr val="tx2"/>
                </a:solidFill>
                <a:latin typeface="Consolas" panose="020B0609020204030204" pitchFamily="49" charset="0"/>
              </a:rPr>
              <a:t>Popularity-based ranking helps platforms and labels identify artists with the greatest engagement potential for promotions, recommendations, and collaborations.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56FFC36-5F80-1365-5540-CE9D6B4DB504}"/>
              </a:ext>
            </a:extLst>
          </p:cNvPr>
          <p:cNvCxnSpPr/>
          <p:nvPr/>
        </p:nvCxnSpPr>
        <p:spPr>
          <a:xfrm>
            <a:off x="3375445" y="4257963"/>
            <a:ext cx="5631909" cy="0"/>
          </a:xfrm>
          <a:prstGeom prst="line">
            <a:avLst/>
          </a:prstGeom>
          <a:ln w="19050" cap="flat" cmpd="sng" algn="ctr">
            <a:solidFill>
              <a:schemeClr val="accent1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0487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B57649-6B74-9B36-286E-8EBE6F499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pPr algn="ctr"/>
            <a:r>
              <a:rPr lang="en-IN" sz="3600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oissant One" panose="02000503080000020004" pitchFamily="2" charset="0"/>
              </a:rPr>
              <a:t>Content Distribution &amp; Performance Insights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6DA926-B199-DC87-EF73-366E52035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56" y="2026833"/>
            <a:ext cx="2495898" cy="120984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636148-2F4C-B29A-B42E-BF83BA679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271" y="5004952"/>
            <a:ext cx="2448267" cy="120031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9EA778D-E703-938F-5486-1B2703FC68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2165" y="5004952"/>
            <a:ext cx="2372056" cy="118126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17" name="Rectangle 1">
            <a:extLst>
              <a:ext uri="{FF2B5EF4-FFF2-40B4-BE49-F238E27FC236}">
                <a16:creationId xmlns:a16="http://schemas.microsoft.com/office/drawing/2014/main" id="{11FF0113-29A9-2240-316A-C78579D9B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8264" y="1968464"/>
            <a:ext cx="3323991" cy="2262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82000"/>
            </a:pPr>
            <a:r>
              <a:rPr 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Top 10 Songs by Album Type</a:t>
            </a:r>
            <a:endParaRPr kumimoji="0" lang="en-US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82000"/>
              <a:buFont typeface="Wingdings" panose="05000000000000000000" pitchFamily="2" charset="2"/>
              <a:buChar char="q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The top-performing songs are almost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evenly split between Singles and Albums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, indicating no heavy dependency on a single release format.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82000"/>
              <a:buFont typeface="Wingdings" panose="05000000000000000000" pitchFamily="2" charset="2"/>
              <a:buChar char="q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Singles marginally outperform albums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, suggesting faster audience adoption and visibility.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82000"/>
              <a:buFont typeface="Wingdings" panose="05000000000000000000" pitchFamily="2" charset="2"/>
              <a:buChar char="q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Albums continue to hold strong relevance, proving long-form releases still attract engagement.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82000"/>
              <a:buFont typeface="Wingdings" panose="05000000000000000000" pitchFamily="2" charset="2"/>
              <a:buChar char="q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This balance highlights flexibility in content strategy without risking performance.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D82EED-4012-6FBA-3447-479CA611C3E7}"/>
              </a:ext>
            </a:extLst>
          </p:cNvPr>
          <p:cNvSpPr txBox="1"/>
          <p:nvPr/>
        </p:nvSpPr>
        <p:spPr>
          <a:xfrm>
            <a:off x="8991763" y="1968464"/>
            <a:ext cx="3052138" cy="2108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82000"/>
            </a:pPr>
            <a:r>
              <a:rPr lang="en-IN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Explicit vs Non-Explicit Songs</a:t>
            </a:r>
          </a:p>
          <a:p>
            <a:pPr marL="171450" indent="-1714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82000"/>
              <a:buFont typeface="Wingdings" panose="05000000000000000000" pitchFamily="2" charset="2"/>
              <a:buChar char="q"/>
            </a:pPr>
            <a:r>
              <a:rPr lang="en-IN" sz="1000" dirty="0">
                <a:solidFill>
                  <a:schemeClr val="tx2"/>
                </a:solidFill>
                <a:latin typeface="Consolas" panose="020B0609020204030204" pitchFamily="49" charset="0"/>
              </a:rPr>
              <a:t>Non-explicit songs dominate the dataset, indicating broader audience reach and higher acceptance.</a:t>
            </a:r>
          </a:p>
          <a:p>
            <a:pPr marL="171450" indent="-1714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82000"/>
              <a:buFont typeface="Wingdings" panose="05000000000000000000" pitchFamily="2" charset="2"/>
              <a:buChar char="q"/>
            </a:pPr>
            <a:r>
              <a:rPr lang="en-IN" sz="1000" dirty="0">
                <a:solidFill>
                  <a:schemeClr val="tx2"/>
                </a:solidFill>
                <a:latin typeface="Consolas" panose="020B0609020204030204" pitchFamily="49" charset="0"/>
              </a:rPr>
              <a:t>Explicit content, while significant, appeals to a comparatively narrower listener base.</a:t>
            </a:r>
          </a:p>
          <a:p>
            <a:pPr marL="171450" indent="-1714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82000"/>
              <a:buFont typeface="Wingdings" panose="05000000000000000000" pitchFamily="2" charset="2"/>
              <a:buChar char="q"/>
            </a:pPr>
            <a:r>
              <a:rPr lang="en-IN" sz="1000" dirty="0">
                <a:solidFill>
                  <a:schemeClr val="tx2"/>
                </a:solidFill>
                <a:latin typeface="Consolas" panose="020B0609020204030204" pitchFamily="49" charset="0"/>
              </a:rPr>
              <a:t>Platforms may prefer non-explicit tracks for wider promotion and algorithmic reach.</a:t>
            </a:r>
          </a:p>
          <a:p>
            <a:pPr marL="171450" indent="-1714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82000"/>
              <a:buFont typeface="Wingdings" panose="05000000000000000000" pitchFamily="2" charset="2"/>
              <a:buChar char="q"/>
            </a:pPr>
            <a:r>
              <a:rPr lang="en-IN" sz="1000" dirty="0">
                <a:solidFill>
                  <a:schemeClr val="tx2"/>
                </a:solidFill>
                <a:latin typeface="Consolas" panose="020B0609020204030204" pitchFamily="49" charset="0"/>
              </a:rPr>
              <a:t>Content creators can leverage non-explicit releases to maximize discoverability.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6EB559-A6EB-C049-00A1-306F8B880714}"/>
              </a:ext>
            </a:extLst>
          </p:cNvPr>
          <p:cNvSpPr txBox="1"/>
          <p:nvPr/>
        </p:nvSpPr>
        <p:spPr>
          <a:xfrm>
            <a:off x="8991763" y="4696981"/>
            <a:ext cx="3052139" cy="1954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82000"/>
              <a:defRPr sz="11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>
                <a:latin typeface="Bookman Old Style" panose="02050604050505020204" pitchFamily="18" charset="0"/>
              </a:rPr>
              <a:t>Songs by Year (2023 vs 2024)</a:t>
            </a:r>
          </a:p>
          <a:p>
            <a:pPr marL="171450" indent="-171450" algn="l">
              <a:buFont typeface="Wingdings" panose="05000000000000000000" pitchFamily="2" charset="2"/>
              <a:buChar char="q"/>
            </a:pPr>
            <a:r>
              <a:rPr lang="en-US" sz="1000" b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2024 contributes a slightly higher share of songs, showing increased recent activity.</a:t>
            </a:r>
          </a:p>
          <a:p>
            <a:pPr marL="171450" indent="-171450" algn="l">
              <a:buFont typeface="Wingdings" panose="05000000000000000000" pitchFamily="2" charset="2"/>
              <a:buChar char="q"/>
            </a:pPr>
            <a:r>
              <a:rPr lang="en-US" sz="1000" b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Newer releases are gaining traction faster compared to older content.</a:t>
            </a:r>
          </a:p>
          <a:p>
            <a:pPr marL="171450" indent="-171450" algn="l">
              <a:buFont typeface="Wingdings" panose="05000000000000000000" pitchFamily="2" charset="2"/>
              <a:buChar char="q"/>
            </a:pPr>
            <a:r>
              <a:rPr lang="en-US" sz="1000" b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This reflects evolving listener preferences toward fresh and trending music.</a:t>
            </a:r>
          </a:p>
          <a:p>
            <a:pPr marL="171450" indent="-171450" algn="l">
              <a:buFont typeface="Wingdings" panose="05000000000000000000" pitchFamily="2" charset="2"/>
              <a:buChar char="q"/>
            </a:pPr>
            <a:r>
              <a:rPr lang="en-US" sz="1000" b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Recent-year dominance supports focusing on current and upcoming releases.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849F61-C54F-66BF-3DFD-3997DFDBDB3B}"/>
              </a:ext>
            </a:extLst>
          </p:cNvPr>
          <p:cNvSpPr txBox="1"/>
          <p:nvPr/>
        </p:nvSpPr>
        <p:spPr>
          <a:xfrm>
            <a:off x="3192282" y="4696981"/>
            <a:ext cx="3052138" cy="2108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82000"/>
            </a:pPr>
            <a:r>
              <a:rPr 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Average Popularity by Album Type</a:t>
            </a:r>
          </a:p>
          <a:p>
            <a:pPr marL="171450" indent="-1714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82000"/>
              <a:buFont typeface="Wingdings" panose="05000000000000000000" pitchFamily="2" charset="2"/>
              <a:buChar char="q"/>
            </a:pPr>
            <a:r>
              <a:rPr lang="en-US" sz="1000" dirty="0">
                <a:solidFill>
                  <a:schemeClr val="tx2"/>
                </a:solidFill>
                <a:latin typeface="Consolas" panose="020B0609020204030204" pitchFamily="49" charset="0"/>
              </a:rPr>
              <a:t>Singles record the highest average popularity, making them the most impactful format.</a:t>
            </a:r>
          </a:p>
          <a:p>
            <a:pPr marL="171450" indent="-1714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82000"/>
              <a:buFont typeface="Wingdings" panose="05000000000000000000" pitchFamily="2" charset="2"/>
              <a:buChar char="q"/>
            </a:pPr>
            <a:r>
              <a:rPr lang="en-US" sz="1000" dirty="0">
                <a:solidFill>
                  <a:schemeClr val="tx2"/>
                </a:solidFill>
                <a:latin typeface="Consolas" panose="020B0609020204030204" pitchFamily="49" charset="0"/>
              </a:rPr>
              <a:t>Albums follow closely, indicating sustained engagement beyond single-track releases.</a:t>
            </a:r>
          </a:p>
          <a:p>
            <a:pPr marL="171450" indent="-1714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82000"/>
              <a:buFont typeface="Wingdings" panose="05000000000000000000" pitchFamily="2" charset="2"/>
              <a:buChar char="q"/>
            </a:pPr>
            <a:r>
              <a:rPr lang="en-US" sz="1000" dirty="0">
                <a:solidFill>
                  <a:schemeClr val="tx2"/>
                </a:solidFill>
                <a:latin typeface="Consolas" panose="020B0609020204030204" pitchFamily="49" charset="0"/>
              </a:rPr>
              <a:t>Compilation tracks show comparatively lower popularity, suggesting niche appeal.</a:t>
            </a:r>
          </a:p>
          <a:p>
            <a:pPr marL="171450" indent="-1714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82000"/>
              <a:buFont typeface="Wingdings" panose="05000000000000000000" pitchFamily="2" charset="2"/>
              <a:buChar char="q"/>
            </a:pPr>
            <a:r>
              <a:rPr lang="en-US" sz="1000" dirty="0">
                <a:solidFill>
                  <a:schemeClr val="tx2"/>
                </a:solidFill>
                <a:latin typeface="Consolas" panose="020B0609020204030204" pitchFamily="49" charset="0"/>
              </a:rPr>
              <a:t>This insight supports prioritizing singles for engagement-driven strategies.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41750C-363B-1995-0DFF-3F440CD57F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2165" y="2060175"/>
            <a:ext cx="2419688" cy="11431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452FBA0-0ED5-AA73-FE5F-A4BED1E7C21E}"/>
              </a:ext>
            </a:extLst>
          </p:cNvPr>
          <p:cNvCxnSpPr>
            <a:cxnSpLocks/>
          </p:cNvCxnSpPr>
          <p:nvPr/>
        </p:nvCxnSpPr>
        <p:spPr>
          <a:xfrm>
            <a:off x="3383991" y="4514337"/>
            <a:ext cx="2538245" cy="0"/>
          </a:xfrm>
          <a:prstGeom prst="line">
            <a:avLst/>
          </a:prstGeom>
          <a:ln w="19050" cap="flat" cmpd="sng" algn="ctr">
            <a:solidFill>
              <a:schemeClr val="accent1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85CD81F-51F7-1697-D32E-FDD23E099AC9}"/>
              </a:ext>
            </a:extLst>
          </p:cNvPr>
          <p:cNvCxnSpPr>
            <a:cxnSpLocks/>
          </p:cNvCxnSpPr>
          <p:nvPr/>
        </p:nvCxnSpPr>
        <p:spPr>
          <a:xfrm>
            <a:off x="9254952" y="4445971"/>
            <a:ext cx="2452787" cy="0"/>
          </a:xfrm>
          <a:prstGeom prst="line">
            <a:avLst/>
          </a:prstGeom>
          <a:ln w="19050" cap="flat" cmpd="sng" algn="ctr">
            <a:solidFill>
              <a:schemeClr val="accent1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091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B57649-6B74-9B36-286E-8EBE6F499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pPr algn="ctr"/>
            <a:r>
              <a:rPr lang="en-IN" sz="4400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oissant One" panose="02000503080000020004" pitchFamily="2" charset="0"/>
              </a:rPr>
              <a:t>Key Insights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F0E2AA10-74E9-3890-99A2-9F47B8423E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693" y="2534490"/>
            <a:ext cx="10844613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82000"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latin typeface="Consolas" panose="020B0609020204030204" pitchFamily="49" charset="0"/>
              </a:rPr>
              <a:t>ingles demonstrate higher engagement and faster adoption compared to albums and compilations. This indicates that listeners prefer shorter, focused releases, making singles a powerful tool for gaining visibility and sustaining interest.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82000"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A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latin typeface="Consolas" panose="020B0609020204030204" pitchFamily="49" charset="0"/>
              </a:rPr>
              <a:t>rtist dominance plays a critical role in popularity distribution, where a small group of top artists contributes a large share of highly popular and viral songs. This reflects the influence of strong fan bases and brand recognition in driving engagement.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82000"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L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latin typeface="Consolas" panose="020B0609020204030204" pitchFamily="49" charset="0"/>
              </a:rPr>
              <a:t>istener behavior shows clear seasonal patterns, with noticeable peaks in popularity and viral activity during specific months and quarters. This suggests that release timing significantly impacts a song’s performance.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82000"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latin typeface="Consolas" panose="020B0609020204030204" pitchFamily="49" charset="0"/>
              </a:rPr>
              <a:t>on-explicit content achieves wider reach and higher acceptance, enabling platforms to promote such tracks more aggressively across playlists, recommendations, and global audiences.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82000"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R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latin typeface="Consolas" panose="020B0609020204030204" pitchFamily="49" charset="0"/>
              </a:rPr>
              <a:t>ecent releases outperform older content, highlighting a strong audience preference for fresh and trending music, and emphasizing the importance of continuous content updates.</a:t>
            </a:r>
          </a:p>
        </p:txBody>
      </p:sp>
    </p:spTree>
    <p:extLst>
      <p:ext uri="{BB962C8B-B14F-4D97-AF65-F5344CB8AC3E}">
        <p14:creationId xmlns:p14="http://schemas.microsoft.com/office/powerpoint/2010/main" val="1044045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B57649-6B74-9B36-286E-8EBE6F499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pPr algn="ctr"/>
            <a:r>
              <a:rPr lang="en-IN" sz="4400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oissant One" panose="02000503080000020004" pitchFamily="2" charset="0"/>
              </a:rPr>
              <a:t>Limitations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DF216D-5710-8BE9-3936-CD7A8A634115}"/>
              </a:ext>
            </a:extLst>
          </p:cNvPr>
          <p:cNvSpPr txBox="1"/>
          <p:nvPr/>
        </p:nvSpPr>
        <p:spPr>
          <a:xfrm>
            <a:off x="1186441" y="2065232"/>
            <a:ext cx="981911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2"/>
              </a:buClr>
              <a:buSzPct val="820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T</a:t>
            </a: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</a:rPr>
              <a:t>he analysis is based on a </a:t>
            </a:r>
            <a:r>
              <a:rPr lang="en-US" b="1" dirty="0">
                <a:solidFill>
                  <a:schemeClr val="tx2"/>
                </a:solidFill>
                <a:latin typeface="Consolas" panose="020B0609020204030204" pitchFamily="49" charset="0"/>
              </a:rPr>
              <a:t>static dataset</a:t>
            </a: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</a:rPr>
              <a:t>, which restricts the ability to track real-time trends, sudden spikes in popularity, or ongoing listener behavior changes.</a:t>
            </a:r>
          </a:p>
          <a:p>
            <a:pPr marL="285750" indent="-285750">
              <a:buClr>
                <a:schemeClr val="accent2"/>
              </a:buClr>
              <a:buSzPct val="820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</a:rPr>
              <a:t>opularity metrics are defined by the platform, and may not fully capture qualitative factors such as emotional impact, cultural relevance, or long-term listener loyalty.</a:t>
            </a:r>
          </a:p>
          <a:p>
            <a:pPr marL="285750" indent="-285750">
              <a:buClr>
                <a:schemeClr val="accent2"/>
              </a:buClr>
              <a:buSzPct val="820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T</a:t>
            </a: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</a:rPr>
              <a:t>he absence of </a:t>
            </a:r>
            <a:r>
              <a:rPr lang="en-US" b="1" dirty="0">
                <a:solidFill>
                  <a:schemeClr val="tx2"/>
                </a:solidFill>
                <a:latin typeface="Consolas" panose="020B0609020204030204" pitchFamily="49" charset="0"/>
              </a:rPr>
              <a:t>user-level and demographic data</a:t>
            </a: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</a:rPr>
              <a:t> limits personalized insights, such as age-based, region-based, or behavior-driven analysis.</a:t>
            </a:r>
          </a:p>
          <a:p>
            <a:pPr marL="285750" indent="-285750">
              <a:buClr>
                <a:schemeClr val="accent2"/>
              </a:buClr>
              <a:buSzPct val="820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G</a:t>
            </a: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</a:rPr>
              <a:t>enre-level classification is not available, preventing deeper exploration of music preferences across different genres and styles.</a:t>
            </a:r>
          </a:p>
          <a:p>
            <a:pPr marL="285750" indent="-285750">
              <a:buClr>
                <a:schemeClr val="accent2"/>
              </a:buClr>
              <a:buSzPct val="820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</a:rPr>
              <a:t>redictive insights are constrained due to the </a:t>
            </a:r>
            <a:r>
              <a:rPr lang="en-US" b="1" dirty="0">
                <a:solidFill>
                  <a:schemeClr val="tx2"/>
                </a:solidFill>
                <a:latin typeface="Consolas" panose="020B0609020204030204" pitchFamily="49" charset="0"/>
              </a:rPr>
              <a:t>lack of historical behavioral patterns and streaming frequency data</a:t>
            </a: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5349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B57649-6B74-9B36-286E-8EBE6F499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pPr algn="ctr"/>
            <a:r>
              <a:rPr lang="en-IN" sz="4400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oissant One" panose="02000503080000020004" pitchFamily="2" charset="0"/>
              </a:rPr>
              <a:t>Recommendation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8E22A5-6FED-A092-1CF1-C5377D4DDE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503" y="2433611"/>
            <a:ext cx="11288994" cy="270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82000"/>
              <a:buFont typeface="Wingdings" panose="05000000000000000000" pitchFamily="2" charset="2"/>
              <a:buChar char="q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A</a:t>
            </a: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latin typeface="Consolas" panose="020B0609020204030204" pitchFamily="49" charset="0"/>
              </a:rPr>
              <a:t>dopt a single-first release strategy, especially for emerging artists or promotional campaigns, to maximize early engagement and visibility.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82000"/>
              <a:buFont typeface="Wingdings" panose="05000000000000000000" pitchFamily="2" charset="2"/>
              <a:buChar char="q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L</a:t>
            </a: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latin typeface="Consolas" panose="020B0609020204030204" pitchFamily="49" charset="0"/>
              </a:rPr>
              <a:t>everage high-performing artists strategically through collaborations, playlist placements, and targeted marketing to amplify reach and retention.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82000"/>
              <a:buFont typeface="Wingdings" panose="05000000000000000000" pitchFamily="2" charset="2"/>
              <a:buChar char="q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T</a:t>
            </a: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latin typeface="Consolas" panose="020B0609020204030204" pitchFamily="49" charset="0"/>
              </a:rPr>
              <a:t>ime releases around high-engagement periods, particularly during quarters and months that show strong viral behavior, to increase the chances of rapid popularity growth.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82000"/>
              <a:buFont typeface="Wingdings" panose="05000000000000000000" pitchFamily="2" charset="2"/>
              <a:buChar char="q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P</a:t>
            </a: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latin typeface="Consolas" panose="020B0609020204030204" pitchFamily="49" charset="0"/>
              </a:rPr>
              <a:t>rioritize non-explicit content for broader promotions, ensuring accessibility across diverse listener groups and regions.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82000"/>
              <a:buFont typeface="Wingdings" panose="05000000000000000000" pitchFamily="2" charset="2"/>
              <a:buChar char="q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E</a:t>
            </a: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latin typeface="Consolas" panose="020B0609020204030204" pitchFamily="49" charset="0"/>
              </a:rPr>
              <a:t>nhance future dashboards by integrating real-time streaming data, genre classification, and user behavior metrics to enable predictive analytics and personalized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3176729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B57649-6B74-9B36-286E-8EBE6F499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pPr algn="ctr"/>
            <a:r>
              <a:rPr lang="en-IN" sz="4400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roissant One" panose="02000503080000020004" pitchFamily="2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329781-7F33-3CE1-D521-1CE186FC1883}"/>
              </a:ext>
            </a:extLst>
          </p:cNvPr>
          <p:cNvSpPr txBox="1"/>
          <p:nvPr/>
        </p:nvSpPr>
        <p:spPr>
          <a:xfrm>
            <a:off x="581192" y="2317312"/>
            <a:ext cx="11029615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T</a:t>
            </a:r>
            <a:r>
              <a:rPr lang="en-US" sz="1500" dirty="0">
                <a:solidFill>
                  <a:schemeClr val="tx2"/>
                </a:solidFill>
                <a:latin typeface="Consolas" panose="020B0609020204030204" pitchFamily="49" charset="0"/>
              </a:rPr>
              <a:t>his project demonstrates the effective use of </a:t>
            </a:r>
            <a:r>
              <a:rPr lang="en-US" sz="1500" b="1" dirty="0">
                <a:solidFill>
                  <a:schemeClr val="tx2"/>
                </a:solidFill>
                <a:latin typeface="Consolas" panose="020B0609020204030204" pitchFamily="49" charset="0"/>
              </a:rPr>
              <a:t>Power BI</a:t>
            </a:r>
            <a:r>
              <a:rPr lang="en-US" sz="1500" dirty="0">
                <a:solidFill>
                  <a:schemeClr val="tx2"/>
                </a:solidFill>
                <a:latin typeface="Consolas" panose="020B0609020204030204" pitchFamily="49" charset="0"/>
              </a:rPr>
              <a:t> to transform raw Spotify music data into meaningful, actionable business insights. By applying structured data cleaning, optimized data modeling, and well-designed DAX measures, the dashboard delivers a clear and interactive view of music performance, artist contribution, and listener engagement trends.</a:t>
            </a:r>
          </a:p>
          <a:p>
            <a:endParaRPr lang="en-US" sz="15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r>
              <a:rPr lang="en-US" sz="15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T</a:t>
            </a:r>
            <a:r>
              <a:rPr lang="en-US" sz="1500" dirty="0">
                <a:solidFill>
                  <a:schemeClr val="tx2"/>
                </a:solidFill>
                <a:latin typeface="Consolas" panose="020B0609020204030204" pitchFamily="49" charset="0"/>
              </a:rPr>
              <a:t>he analysis reveals important patterns such as the dominance of </a:t>
            </a:r>
            <a:r>
              <a:rPr lang="en-US" sz="1500" b="1" dirty="0">
                <a:solidFill>
                  <a:schemeClr val="tx2"/>
                </a:solidFill>
                <a:latin typeface="Consolas" panose="020B0609020204030204" pitchFamily="49" charset="0"/>
              </a:rPr>
              <a:t>single releases</a:t>
            </a:r>
            <a:r>
              <a:rPr lang="en-US" sz="1500" dirty="0">
                <a:solidFill>
                  <a:schemeClr val="tx2"/>
                </a:solidFill>
                <a:latin typeface="Consolas" panose="020B0609020204030204" pitchFamily="49" charset="0"/>
              </a:rPr>
              <a:t>, the strong influence of </a:t>
            </a:r>
            <a:r>
              <a:rPr lang="en-US" sz="1500" b="1" dirty="0">
                <a:solidFill>
                  <a:schemeClr val="tx2"/>
                </a:solidFill>
                <a:latin typeface="Consolas" panose="020B0609020204030204" pitchFamily="49" charset="0"/>
              </a:rPr>
              <a:t>top-performing artists</a:t>
            </a:r>
            <a:r>
              <a:rPr lang="en-US" sz="1500" dirty="0">
                <a:solidFill>
                  <a:schemeClr val="tx2"/>
                </a:solidFill>
                <a:latin typeface="Consolas" panose="020B0609020204030204" pitchFamily="49" charset="0"/>
              </a:rPr>
              <a:t>, and the impact of </a:t>
            </a:r>
            <a:r>
              <a:rPr lang="en-US" sz="1500" b="1" dirty="0">
                <a:solidFill>
                  <a:schemeClr val="tx2"/>
                </a:solidFill>
                <a:latin typeface="Consolas" panose="020B0609020204030204" pitchFamily="49" charset="0"/>
              </a:rPr>
              <a:t>release timing on popularity and virality</a:t>
            </a:r>
            <a:r>
              <a:rPr lang="en-US" sz="1500" dirty="0">
                <a:solidFill>
                  <a:schemeClr val="tx2"/>
                </a:solidFill>
                <a:latin typeface="Consolas" panose="020B0609020204030204" pitchFamily="49" charset="0"/>
              </a:rPr>
              <a:t>. Seasonal trends and content-type comparisons further highlight how data can guide strategic decisions in content planning and promotion.</a:t>
            </a:r>
          </a:p>
          <a:p>
            <a:r>
              <a:rPr lang="en-US" sz="1500" dirty="0">
                <a:solidFill>
                  <a:schemeClr val="tx2"/>
                </a:solidFill>
                <a:latin typeface="Consolas" panose="020B0609020204030204" pitchFamily="49" charset="0"/>
              </a:rPr>
              <a:t>Despite limitations such as the use of a static dataset and platform-defined popularity metrics, the dashboard successfully provides valuable insights that are relevant for </a:t>
            </a:r>
            <a:r>
              <a:rPr lang="en-US" sz="1500" b="1" dirty="0">
                <a:solidFill>
                  <a:schemeClr val="tx2"/>
                </a:solidFill>
                <a:latin typeface="Consolas" panose="020B0609020204030204" pitchFamily="49" charset="0"/>
              </a:rPr>
              <a:t>music platforms, marketing teams, and artist management</a:t>
            </a:r>
            <a:r>
              <a:rPr lang="en-US" sz="1500" dirty="0">
                <a:solidFill>
                  <a:schemeClr val="tx2"/>
                </a:solidFill>
                <a:latin typeface="Consolas" panose="020B0609020204030204" pitchFamily="49" charset="0"/>
              </a:rPr>
              <a:t>. The project reflects strong analytical thinking, business understanding, and visual storytelling skills.</a:t>
            </a:r>
          </a:p>
          <a:p>
            <a:endParaRPr lang="en-US" sz="15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r>
              <a:rPr lang="en-US" sz="15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O</a:t>
            </a:r>
            <a:r>
              <a:rPr lang="en-US" sz="1500" dirty="0">
                <a:solidFill>
                  <a:schemeClr val="tx2"/>
                </a:solidFill>
                <a:latin typeface="Consolas" panose="020B0609020204030204" pitchFamily="49" charset="0"/>
              </a:rPr>
              <a:t>verall, this dashboard bridges the gap between </a:t>
            </a:r>
            <a:r>
              <a:rPr lang="en-US" sz="1500" b="1" dirty="0">
                <a:solidFill>
                  <a:schemeClr val="tx2"/>
                </a:solidFill>
                <a:latin typeface="Consolas" panose="020B0609020204030204" pitchFamily="49" charset="0"/>
              </a:rPr>
              <a:t>data and decision-making</a:t>
            </a:r>
            <a:r>
              <a:rPr lang="en-US" sz="1500" dirty="0">
                <a:solidFill>
                  <a:schemeClr val="tx2"/>
                </a:solidFill>
                <a:latin typeface="Consolas" panose="020B0609020204030204" pitchFamily="49" charset="0"/>
              </a:rPr>
              <a:t>, showcasing how analytics can support smarter content strategies, improved audience engagement, and scalable business growth in the digital music industry.</a:t>
            </a:r>
          </a:p>
        </p:txBody>
      </p:sp>
    </p:spTree>
    <p:extLst>
      <p:ext uri="{BB962C8B-B14F-4D97-AF65-F5344CB8AC3E}">
        <p14:creationId xmlns:p14="http://schemas.microsoft.com/office/powerpoint/2010/main" val="23882398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Beveled 2">
            <a:extLst>
              <a:ext uri="{FF2B5EF4-FFF2-40B4-BE49-F238E27FC236}">
                <a16:creationId xmlns:a16="http://schemas.microsoft.com/office/drawing/2014/main" id="{1D709E14-64DC-A644-0737-405F1FFD7D2B}"/>
              </a:ext>
            </a:extLst>
          </p:cNvPr>
          <p:cNvSpPr/>
          <p:nvPr/>
        </p:nvSpPr>
        <p:spPr>
          <a:xfrm>
            <a:off x="2119356" y="1615155"/>
            <a:ext cx="8323604" cy="4477996"/>
          </a:xfrm>
          <a:prstGeom prst="bevel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Bookman Old Style" panose="020506040505050202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0A6DDC-0251-68CD-D593-B53827C2F5D1}"/>
              </a:ext>
            </a:extLst>
          </p:cNvPr>
          <p:cNvSpPr txBox="1"/>
          <p:nvPr/>
        </p:nvSpPr>
        <p:spPr>
          <a:xfrm>
            <a:off x="4226783" y="3469432"/>
            <a:ext cx="41087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solidFill>
                  <a:schemeClr val="bg1"/>
                </a:solidFill>
                <a:latin typeface="Bungee Shade" pitchFamily="2" charset="0"/>
                <a:ea typeface="Bungee Shade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8803520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1641</TotalTime>
  <Words>1885</Words>
  <Application>Microsoft Office PowerPoint</Application>
  <PresentationFormat>Widescreen</PresentationFormat>
  <Paragraphs>112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Wingdings</vt:lpstr>
      <vt:lpstr>Wingdings 2</vt:lpstr>
      <vt:lpstr>Croissant One</vt:lpstr>
      <vt:lpstr>Bungee Shade</vt:lpstr>
      <vt:lpstr>Courier New</vt:lpstr>
      <vt:lpstr>Bookman Old Style</vt:lpstr>
      <vt:lpstr>Arial</vt:lpstr>
      <vt:lpstr>Consolas</vt:lpstr>
      <vt:lpstr>Dividend</vt:lpstr>
      <vt:lpstr>Spotify Analytics Dashboard</vt:lpstr>
      <vt:lpstr>AGENDA</vt:lpstr>
      <vt:lpstr>Business Context &amp; Objectives</vt:lpstr>
      <vt:lpstr>Spotify Dashboard – Overview</vt:lpstr>
      <vt:lpstr>Data Model &amp; DAX Measure Architecture</vt:lpstr>
      <vt:lpstr>KPI card</vt:lpstr>
      <vt:lpstr>Average Popularity</vt:lpstr>
      <vt:lpstr>Fast viral songs</vt:lpstr>
      <vt:lpstr>Top Artists</vt:lpstr>
      <vt:lpstr>Content Distribution &amp; Performance Insights</vt:lpstr>
      <vt:lpstr>Key Insights</vt:lpstr>
      <vt:lpstr>Limitations</vt:lpstr>
      <vt:lpstr>Recommendation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Mitra</dc:creator>
  <cp:lastModifiedBy>Aakash Mitra</cp:lastModifiedBy>
  <cp:revision>26</cp:revision>
  <dcterms:created xsi:type="dcterms:W3CDTF">2026-01-11T17:11:48Z</dcterms:created>
  <dcterms:modified xsi:type="dcterms:W3CDTF">2026-01-29T17:07:30Z</dcterms:modified>
</cp:coreProperties>
</file>